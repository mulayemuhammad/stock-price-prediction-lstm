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3" r:id="rId2"/>
    <p:sldId id="264" r:id="rId3"/>
    <p:sldId id="266" r:id="rId4"/>
    <p:sldId id="265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56" r:id="rId13"/>
  </p:sldIdLst>
  <p:sldSz cx="9144000" cy="5143500" type="screen16x9"/>
  <p:notesSz cx="6858000" cy="9144000"/>
  <p:embeddedFontLst>
    <p:embeddedFont>
      <p:font typeface="Roboto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30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c6f9e470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c6f9e470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793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990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011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390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74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455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4410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357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058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1826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/>
          <p:nvPr/>
        </p:nvSpPr>
        <p:spPr>
          <a:xfrm>
            <a:off x="6847150" y="1577750"/>
            <a:ext cx="1521600" cy="343800"/>
          </a:xfrm>
          <a:prstGeom prst="wedgeRoundRectCallout">
            <a:avLst>
              <a:gd name="adj1" fmla="val -21297"/>
              <a:gd name="adj2" fmla="val 49107"/>
              <a:gd name="adj3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" name="Google Shape;219;p20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220" name="Google Shape;220;p20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21" name="Google Shape;221;p20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22" name="Google Shape;222;p20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23" name="Google Shape;223;p20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24" name="Google Shape;224;p20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25" name="Google Shape;225;p20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26" name="Google Shape;226;p20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27" name="Google Shape;227;p20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28" name="Google Shape;228;p20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29" name="Google Shape;229;p20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230" name="Google Shape;230;p20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title"/>
          </p:nvPr>
        </p:nvSpPr>
        <p:spPr>
          <a:xfrm>
            <a:off x="248605" y="162235"/>
            <a:ext cx="4045200" cy="2340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Prédiction des prix boursiers </a:t>
            </a:r>
            <a:r>
              <a:rPr lang="fr-FR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 temps réel 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Google Shape;232;p20"/>
          <p:cNvSpPr txBox="1">
            <a:spLocks noGrp="1"/>
          </p:cNvSpPr>
          <p:nvPr>
            <p:ph type="subTitle" idx="1"/>
          </p:nvPr>
        </p:nvSpPr>
        <p:spPr>
          <a:xfrm>
            <a:off x="265828" y="2526648"/>
            <a:ext cx="4045200" cy="8216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/>
              <a:t>Comparaison des modèles RNN et LSTM.</a:t>
            </a:r>
            <a:endParaRPr dirty="0"/>
          </a:p>
        </p:txBody>
      </p:sp>
      <p:grpSp>
        <p:nvGrpSpPr>
          <p:cNvPr id="233" name="Google Shape;233;p20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234" name="Google Shape;234;p20"/>
            <p:cNvSpPr/>
            <p:nvPr/>
          </p:nvSpPr>
          <p:spPr>
            <a:xfrm>
              <a:off x="1000000" y="2440003"/>
              <a:ext cx="4144235" cy="1631269"/>
            </a:xfrm>
            <a:custGeom>
              <a:avLst/>
              <a:gdLst/>
              <a:ahLst/>
              <a:cxnLst/>
              <a:rect l="l" t="t" r="r" b="b"/>
              <a:pathLst>
                <a:path w="165422" h="90088" extrusionOk="0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35" name="Google Shape;235;p20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" name="Google Shape;243;p20"/>
          <p:cNvSpPr/>
          <p:nvPr/>
        </p:nvSpPr>
        <p:spPr>
          <a:xfrm>
            <a:off x="6847150" y="1577745"/>
            <a:ext cx="1179600" cy="343800"/>
          </a:xfrm>
          <a:prstGeom prst="wedgeRoundRectCallout">
            <a:avLst>
              <a:gd name="adj1" fmla="val -21432"/>
              <a:gd name="adj2" fmla="val 84969"/>
              <a:gd name="adj3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" name="Google Shape;244;p20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245" name="Google Shape;245;p20"/>
            <p:cNvSpPr/>
            <p:nvPr/>
          </p:nvSpPr>
          <p:spPr>
            <a:xfrm>
              <a:off x="1000025" y="2083952"/>
              <a:ext cx="4156550" cy="1576975"/>
            </a:xfrm>
            <a:custGeom>
              <a:avLst/>
              <a:gdLst/>
              <a:ahLst/>
              <a:cxnLst/>
              <a:rect l="l" t="t" r="r" b="b"/>
              <a:pathLst>
                <a:path w="166262" h="63079" extrusionOk="0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46" name="Google Shape;246;p20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4" name="Google Shape;254;p20"/>
          <p:cNvSpPr txBox="1">
            <a:spLocks noGrp="1"/>
          </p:cNvSpPr>
          <p:nvPr>
            <p:ph type="body" idx="2"/>
          </p:nvPr>
        </p:nvSpPr>
        <p:spPr>
          <a:xfrm>
            <a:off x="6847150" y="1606400"/>
            <a:ext cx="15294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</a:rPr>
              <a:t>Croissance max.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73424" y="3417584"/>
            <a:ext cx="2609850" cy="476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</a:rPr>
              <a:t>Moulaye</a:t>
            </a:r>
            <a:r>
              <a:rPr lang="en-GB" dirty="0" smtClean="0">
                <a:solidFill>
                  <a:schemeClr val="bg2">
                    <a:lumMod val="50000"/>
                  </a:schemeClr>
                </a:solidFill>
              </a:rPr>
              <a:t> Ahmed </a:t>
            </a: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</a:rPr>
              <a:t>Brahim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</a:rPr>
              <a:t>Zeinebou</a:t>
            </a:r>
            <a:r>
              <a:rPr lang="en-GB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</a:rPr>
              <a:t>Taki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460823" y="4762500"/>
            <a:ext cx="2609850" cy="476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2">
                    <a:lumMod val="50000"/>
                  </a:schemeClr>
                </a:solidFill>
              </a:rPr>
              <a:t>Le 07 </a:t>
            </a:r>
            <a:r>
              <a:rPr lang="en-GB" sz="1200" b="1" dirty="0" err="1" smtClean="0">
                <a:solidFill>
                  <a:schemeClr val="bg2">
                    <a:lumMod val="50000"/>
                  </a:schemeClr>
                </a:solidFill>
              </a:rPr>
              <a:t>Decembre</a:t>
            </a:r>
            <a:r>
              <a:rPr lang="en-GB" sz="1200" b="1" dirty="0" smtClean="0">
                <a:solidFill>
                  <a:schemeClr val="bg2">
                    <a:lumMod val="50000"/>
                  </a:schemeClr>
                </a:solidFill>
              </a:rPr>
              <a:t> 2024</a:t>
            </a:r>
            <a:endParaRPr lang="en-GB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62225" y="4805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Plan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</a:rPr>
              <a:t>Contexte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5" name="Google Shape;105;p14"/>
          <p:cNvSpPr txBox="1">
            <a:spLocks noGrp="1"/>
          </p:cNvSpPr>
          <p:nvPr>
            <p:ph type="body" idx="4294967295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</a:rPr>
              <a:t>Description du problème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4809590"/>
            <a:ext cx="9144000" cy="3339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520700" y="552450"/>
            <a:ext cx="6515100" cy="4178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</a:rPr>
              <a:t>Introduction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b="1" dirty="0" err="1" smtClean="0">
                <a:solidFill>
                  <a:schemeClr val="bg2">
                    <a:lumMod val="50000"/>
                  </a:schemeClr>
                </a:solidFill>
              </a:rPr>
              <a:t>Donnees</a:t>
            </a: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</a:rPr>
              <a:t> et </a:t>
            </a:r>
            <a:r>
              <a:rPr lang="en-GB" sz="2400" b="1" dirty="0" err="1" smtClean="0">
                <a:solidFill>
                  <a:schemeClr val="bg2">
                    <a:lumMod val="50000"/>
                  </a:schemeClr>
                </a:solidFill>
              </a:rPr>
              <a:t>Outils</a:t>
            </a: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</a:rPr>
              <a:t> utilises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</a:rPr>
              <a:t>Preparation des </a:t>
            </a:r>
            <a:r>
              <a:rPr lang="en-GB" sz="2400" b="1" dirty="0" err="1" smtClean="0">
                <a:solidFill>
                  <a:schemeClr val="bg2">
                    <a:lumMod val="50000"/>
                  </a:schemeClr>
                </a:solidFill>
              </a:rPr>
              <a:t>donnees</a:t>
            </a:r>
            <a:endParaRPr lang="en-GB" sz="24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</a:rPr>
              <a:t>Model RNN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</a:rPr>
              <a:t>Model LSTM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</a:rPr>
              <a:t>Comparison des models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b="1" dirty="0" err="1" smtClean="0">
                <a:solidFill>
                  <a:schemeClr val="bg2">
                    <a:lumMod val="50000"/>
                  </a:schemeClr>
                </a:solidFill>
              </a:rPr>
              <a:t>Deploiement</a:t>
            </a: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</a:rPr>
              <a:t> avec </a:t>
            </a:r>
            <a:r>
              <a:rPr lang="en-GB" sz="2400" b="1" dirty="0" err="1" smtClean="0">
                <a:solidFill>
                  <a:schemeClr val="bg2">
                    <a:lumMod val="50000"/>
                  </a:schemeClr>
                </a:solidFill>
              </a:rPr>
              <a:t>Streamlit</a:t>
            </a:r>
            <a:endParaRPr lang="en-GB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71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62225" y="0"/>
            <a:ext cx="8520600" cy="5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1. Introduction 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</a:rPr>
              <a:t>Contexte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5" name="Google Shape;105;p14"/>
          <p:cNvSpPr txBox="1">
            <a:spLocks noGrp="1"/>
          </p:cNvSpPr>
          <p:nvPr>
            <p:ph type="body" idx="4294967295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chemeClr val="lt1"/>
                </a:solidFill>
              </a:rPr>
              <a:t>Description du problème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4809590"/>
            <a:ext cx="9144000" cy="3339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161925" y="854192"/>
            <a:ext cx="664845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/>
              <a:t>Contexte et Problématique :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Prédiction </a:t>
            </a:r>
            <a:r>
              <a:rPr lang="fr-FR" dirty="0"/>
              <a:t>des prix boursiers est cruciale pour la prise de décision </a:t>
            </a:r>
            <a:r>
              <a:rPr lang="fr-FR" dirty="0" smtClean="0"/>
              <a:t>financière.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Besoin </a:t>
            </a:r>
            <a:r>
              <a:rPr lang="fr-FR" dirty="0"/>
              <a:t>d’un modèle précis pour anticiper les prix d’ouverture des </a:t>
            </a:r>
            <a:r>
              <a:rPr lang="fr-FR" dirty="0" smtClean="0"/>
              <a:t>actions.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61925" y="1957837"/>
            <a:ext cx="807402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/>
              <a:t>Objectif Principal :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Comparer les performances de deux modèles de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(RNN et LSTM) pour la prédiction du prix d'ouverture d'une action</a:t>
            </a:r>
            <a:r>
              <a:rPr lang="fr-FR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Utilisation du meilleur model pour la prédiction en Temps réel de certains prix d’actions. 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61925" y="3501415"/>
            <a:ext cx="782955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/>
              <a:t>Approche Adoptée :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Utilisation de données historiques d’IBM issues de Yahoo </a:t>
            </a:r>
            <a:r>
              <a:rPr lang="fr-FR" dirty="0" smtClean="0"/>
              <a:t>Finance.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Entraînement </a:t>
            </a:r>
            <a:r>
              <a:rPr lang="fr-FR" dirty="0"/>
              <a:t>et évaluation des modèles RNN et LSTM sur ces données.</a:t>
            </a:r>
          </a:p>
        </p:txBody>
      </p:sp>
    </p:spTree>
    <p:extLst>
      <p:ext uri="{BB962C8B-B14F-4D97-AF65-F5344CB8AC3E}">
        <p14:creationId xmlns:p14="http://schemas.microsoft.com/office/powerpoint/2010/main" val="310116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62225" y="0"/>
            <a:ext cx="8520600" cy="5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2</a:t>
            </a:r>
            <a:r>
              <a:rPr lang="fr" dirty="0" smtClean="0"/>
              <a:t>. Donnees et outils utilises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0" y="4809590"/>
            <a:ext cx="9144000" cy="3339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62224" y="634604"/>
            <a:ext cx="43751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/>
              <a:t>Données d’entrainement : </a:t>
            </a:r>
            <a:endParaRPr lang="fr-FR" sz="2000" dirty="0"/>
          </a:p>
        </p:txBody>
      </p:sp>
      <p:sp>
        <p:nvSpPr>
          <p:cNvPr id="10" name="Rectangle 9"/>
          <p:cNvSpPr/>
          <p:nvPr/>
        </p:nvSpPr>
        <p:spPr>
          <a:xfrm>
            <a:off x="5100110" y="634604"/>
            <a:ext cx="30532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/>
              <a:t>Outils et données :</a:t>
            </a:r>
            <a:endParaRPr lang="fr-FR" sz="20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831" y="1105173"/>
            <a:ext cx="1439910" cy="90661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831" y="2177893"/>
            <a:ext cx="1720808" cy="80659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550" y="2128698"/>
            <a:ext cx="1804947" cy="85579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831" y="3196398"/>
            <a:ext cx="1720808" cy="76049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4550" y="3196398"/>
            <a:ext cx="1854200" cy="760498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166" y="1250269"/>
            <a:ext cx="4398834" cy="2400981"/>
          </a:xfrm>
          <a:prstGeom prst="rect">
            <a:avLst/>
          </a:prstGeom>
        </p:spPr>
      </p:pic>
      <p:sp>
        <p:nvSpPr>
          <p:cNvPr id="14" name="Rectangle 2"/>
          <p:cNvSpPr>
            <a:spLocks noChangeArrowheads="1"/>
          </p:cNvSpPr>
          <p:nvPr/>
        </p:nvSpPr>
        <p:spPr bwMode="auto">
          <a:xfrm rot="10800000" flipV="1">
            <a:off x="62225" y="3619500"/>
            <a:ext cx="646258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Période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2010-2024.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Variables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principales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Open, High, Low, Close, Volume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190" y="1218033"/>
            <a:ext cx="1916222" cy="79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9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62225" y="0"/>
            <a:ext cx="8520600" cy="5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3</a:t>
            </a:r>
            <a:r>
              <a:rPr lang="fr" dirty="0" smtClean="0"/>
              <a:t>. Preparation de donnees  </a:t>
            </a:r>
            <a:endParaRPr dirty="0"/>
          </a:p>
        </p:txBody>
      </p:sp>
      <p:sp>
        <p:nvSpPr>
          <p:cNvPr id="105" name="Google Shape;105;p14"/>
          <p:cNvSpPr txBox="1">
            <a:spLocks noGrp="1"/>
          </p:cNvSpPr>
          <p:nvPr>
            <p:ph type="body" idx="4294967295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chemeClr val="lt1"/>
                </a:solidFill>
              </a:rPr>
              <a:t>Description du problème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4809590"/>
            <a:ext cx="9144000" cy="3339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17" y="1559910"/>
            <a:ext cx="1686160" cy="10870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9661" y="1112069"/>
            <a:ext cx="2329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1. Division </a:t>
            </a:r>
            <a:r>
              <a:rPr lang="en-GB" b="1" dirty="0"/>
              <a:t>des </a:t>
            </a:r>
            <a:r>
              <a:rPr lang="en-GB" b="1" dirty="0" err="1"/>
              <a:t>données</a:t>
            </a:r>
            <a:r>
              <a:rPr lang="en-GB" b="1" dirty="0"/>
              <a:t>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8317" y="2646944"/>
            <a:ext cx="697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00B050"/>
                </a:solidFill>
              </a:rPr>
              <a:t>70%</a:t>
            </a:r>
            <a:endParaRPr lang="fr-FR" sz="2000" dirty="0">
              <a:solidFill>
                <a:srgbClr val="00B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65017" y="2678102"/>
            <a:ext cx="697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FF9933"/>
                </a:solidFill>
              </a:rPr>
              <a:t>3</a:t>
            </a:r>
            <a:r>
              <a:rPr lang="fr-FR" sz="2000" b="1" dirty="0" smtClean="0">
                <a:solidFill>
                  <a:srgbClr val="FF9933"/>
                </a:solidFill>
              </a:rPr>
              <a:t>0%</a:t>
            </a:r>
            <a:endParaRPr lang="fr-FR" sz="2000" dirty="0">
              <a:solidFill>
                <a:srgbClr val="FF993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50534" y="1063859"/>
            <a:ext cx="33778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2. Normalisation </a:t>
            </a:r>
            <a:r>
              <a:rPr lang="en-GB" b="1" dirty="0"/>
              <a:t>avec </a:t>
            </a:r>
            <a:r>
              <a:rPr lang="en-GB" b="1" dirty="0" err="1" smtClean="0"/>
              <a:t>MinMaxScaler</a:t>
            </a:r>
            <a:r>
              <a:rPr lang="en-GB" b="1" dirty="0" smtClean="0"/>
              <a:t> :</a:t>
            </a:r>
            <a:endParaRPr lang="en-GB" b="1" dirty="0"/>
          </a:p>
        </p:txBody>
      </p:sp>
      <p:sp>
        <p:nvSpPr>
          <p:cNvPr id="9" name="Rectangle 8"/>
          <p:cNvSpPr/>
          <p:nvPr/>
        </p:nvSpPr>
        <p:spPr>
          <a:xfrm>
            <a:off x="449117" y="3689985"/>
            <a:ext cx="75755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/>
              <a:t>3. Fenêtrage </a:t>
            </a:r>
            <a:r>
              <a:rPr lang="fr-FR" b="1" dirty="0"/>
              <a:t>des données : utilisation de 60 jours pour prédire le jour </a:t>
            </a:r>
            <a:r>
              <a:rPr lang="fr-FR" b="1" dirty="0" smtClean="0"/>
              <a:t>suivant.  </a:t>
            </a:r>
            <a:endParaRPr lang="en-GB" b="1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549" y="1419846"/>
            <a:ext cx="3533010" cy="167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4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9525" y="-30971"/>
            <a:ext cx="8520600" cy="5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4-1. Model RNN 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chemeClr val="lt1"/>
                </a:solidFill>
              </a:rPr>
              <a:t>Contexte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51976"/>
            <a:ext cx="735965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 smtClean="0"/>
              <a:t> Structure </a:t>
            </a:r>
            <a:r>
              <a:rPr lang="fr-FR" b="1" dirty="0"/>
              <a:t>: </a:t>
            </a:r>
            <a:r>
              <a:rPr lang="fr-FR" dirty="0"/>
              <a:t>4 couches RNN avec dropout et une couche de sortie.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 smtClean="0"/>
              <a:t> Fonction </a:t>
            </a:r>
            <a:r>
              <a:rPr lang="fr-FR" b="1" dirty="0"/>
              <a:t>d'activation : </a:t>
            </a:r>
            <a:r>
              <a:rPr lang="fr-FR" i="1" dirty="0" err="1"/>
              <a:t>tanh</a:t>
            </a:r>
            <a:r>
              <a:rPr lang="fr-FR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 smtClean="0"/>
              <a:t> Optimiseur </a:t>
            </a:r>
            <a:r>
              <a:rPr lang="fr-FR" b="1" dirty="0"/>
              <a:t>: </a:t>
            </a:r>
            <a:r>
              <a:rPr lang="fr-FR" i="1" dirty="0"/>
              <a:t>Adam</a:t>
            </a:r>
            <a:r>
              <a:rPr lang="fr-FR" dirty="0"/>
              <a:t>.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50" y="1698206"/>
            <a:ext cx="8409574" cy="344529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529362" y="1467506"/>
            <a:ext cx="6214675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200" b="1" dirty="0"/>
              <a:t>Comparaison entre les prédictions et les valeurs réelles sur </a:t>
            </a:r>
            <a:r>
              <a:rPr lang="fr-FR" sz="1200" b="1" dirty="0" smtClean="0"/>
              <a:t>l'entraînement (RNN)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10233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9525" y="-30971"/>
            <a:ext cx="8520600" cy="5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4-2. Model LSTM 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</a:rPr>
              <a:t>Contexte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524" y="451976"/>
            <a:ext cx="896112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 smtClean="0"/>
              <a:t> Structure </a:t>
            </a:r>
            <a:r>
              <a:rPr lang="fr-FR" b="1" dirty="0"/>
              <a:t>: </a:t>
            </a:r>
            <a:r>
              <a:rPr lang="fr-FR" dirty="0"/>
              <a:t>3 couches LSTM avec 100 neurones chacune, suivies d'un Dropout de </a:t>
            </a:r>
            <a:r>
              <a:rPr lang="fr-FR" dirty="0" smtClean="0"/>
              <a:t>0.2, 1 </a:t>
            </a:r>
            <a:r>
              <a:rPr lang="fr-FR" dirty="0"/>
              <a:t>couche </a:t>
            </a:r>
            <a:r>
              <a:rPr lang="fr-FR" dirty="0" smtClean="0"/>
              <a:t>Dense.    </a:t>
            </a:r>
            <a:r>
              <a:rPr lang="fr-FR" b="1" dirty="0" smtClean="0"/>
              <a:t>Fonction </a:t>
            </a:r>
            <a:r>
              <a:rPr lang="fr-FR" b="1" dirty="0"/>
              <a:t>d'activation : </a:t>
            </a:r>
            <a:r>
              <a:rPr lang="fr-FR" i="1" dirty="0" err="1"/>
              <a:t>tanh</a:t>
            </a:r>
            <a:r>
              <a:rPr lang="fr-FR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 smtClean="0"/>
              <a:t> Optimiseur </a:t>
            </a:r>
            <a:r>
              <a:rPr lang="fr-FR" b="1" dirty="0"/>
              <a:t>: </a:t>
            </a:r>
            <a:r>
              <a:rPr lang="fr-FR" i="1" dirty="0"/>
              <a:t>Adam</a:t>
            </a:r>
            <a:r>
              <a:rPr lang="fr-FR" dirty="0"/>
              <a:t>.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1766275"/>
            <a:ext cx="8699500" cy="33772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12912" y="1513805"/>
            <a:ext cx="6351975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200" b="1" dirty="0"/>
              <a:t>Comparaison entre les prédictions et les valeurs réelles sur </a:t>
            </a:r>
            <a:r>
              <a:rPr lang="fr-FR" sz="1200" b="1" dirty="0" smtClean="0"/>
              <a:t>l'entraînement (LSTM)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74722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9525" y="-30971"/>
            <a:ext cx="8520600" cy="5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5</a:t>
            </a:r>
            <a:r>
              <a:rPr lang="fr" dirty="0" smtClean="0"/>
              <a:t>. Comparaison entre les 2 models 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</a:rPr>
              <a:t>Contexte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36311" y="644475"/>
            <a:ext cx="12827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 smtClean="0"/>
              <a:t>RNN : </a:t>
            </a:r>
            <a:endParaRPr lang="en-GB" sz="2800" b="1" dirty="0"/>
          </a:p>
        </p:txBody>
      </p:sp>
      <p:sp>
        <p:nvSpPr>
          <p:cNvPr id="10" name="Rectangle 9"/>
          <p:cNvSpPr/>
          <p:nvPr/>
        </p:nvSpPr>
        <p:spPr>
          <a:xfrm>
            <a:off x="6097211" y="644475"/>
            <a:ext cx="14814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 smtClean="0"/>
              <a:t>LSTM : </a:t>
            </a:r>
            <a:endParaRPr lang="en-GB" sz="28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4" y="1167695"/>
            <a:ext cx="4340194" cy="135325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50" y="2644276"/>
            <a:ext cx="4216243" cy="134321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100" y="1167695"/>
            <a:ext cx="4074432" cy="1476581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100" y="2589146"/>
            <a:ext cx="4048066" cy="137179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20750" y="4323318"/>
            <a:ext cx="7886700" cy="69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Le Model LSTM </a:t>
            </a:r>
            <a:r>
              <a:rPr lang="en-GB" b="1" dirty="0" err="1"/>
              <a:t>possede</a:t>
            </a:r>
            <a:r>
              <a:rPr lang="en-GB" b="1" dirty="0"/>
              <a:t> un </a:t>
            </a:r>
            <a:r>
              <a:rPr lang="en-GB" b="1" dirty="0" err="1"/>
              <a:t>mse</a:t>
            </a:r>
            <a:r>
              <a:rPr lang="en-GB" b="1" dirty="0"/>
              <a:t> plus petit que </a:t>
            </a:r>
            <a:r>
              <a:rPr lang="en-GB" b="1" dirty="0" err="1"/>
              <a:t>celui</a:t>
            </a:r>
            <a:r>
              <a:rPr lang="en-GB" b="1" dirty="0"/>
              <a:t> du model RNN </a:t>
            </a:r>
            <a:r>
              <a:rPr lang="en-GB" b="1" dirty="0" err="1"/>
              <a:t>montrant</a:t>
            </a:r>
            <a:r>
              <a:rPr lang="en-GB" b="1" dirty="0"/>
              <a:t> </a:t>
            </a:r>
            <a:r>
              <a:rPr lang="en-GB" b="1" dirty="0" err="1"/>
              <a:t>sa</a:t>
            </a:r>
            <a:r>
              <a:rPr lang="en-GB" b="1" dirty="0"/>
              <a:t> pertinence et </a:t>
            </a:r>
            <a:r>
              <a:rPr lang="en-GB" b="1" dirty="0" err="1"/>
              <a:t>sa</a:t>
            </a:r>
            <a:r>
              <a:rPr lang="en-GB" b="1" dirty="0"/>
              <a:t> </a:t>
            </a:r>
            <a:r>
              <a:rPr lang="en-GB" b="1" dirty="0" err="1"/>
              <a:t>capacite</a:t>
            </a:r>
            <a:r>
              <a:rPr lang="en-GB" b="1" dirty="0"/>
              <a:t> plus forte a </a:t>
            </a:r>
            <a:r>
              <a:rPr lang="en-GB" b="1" dirty="0" err="1"/>
              <a:t>saisir</a:t>
            </a:r>
            <a:r>
              <a:rPr lang="en-GB" b="1" dirty="0"/>
              <a:t> les </a:t>
            </a:r>
            <a:r>
              <a:rPr lang="en-GB" b="1" dirty="0" err="1"/>
              <a:t>dependances</a:t>
            </a:r>
            <a:r>
              <a:rPr lang="en-GB" b="1" dirty="0"/>
              <a:t> </a:t>
            </a:r>
            <a:r>
              <a:rPr lang="en-GB" b="1" dirty="0" err="1"/>
              <a:t>temporelles</a:t>
            </a:r>
            <a:endParaRPr lang="en-GB" b="1" dirty="0"/>
          </a:p>
        </p:txBody>
      </p:sp>
      <p:sp>
        <p:nvSpPr>
          <p:cNvPr id="13" name="Flèche droite 12"/>
          <p:cNvSpPr/>
          <p:nvPr/>
        </p:nvSpPr>
        <p:spPr>
          <a:xfrm>
            <a:off x="93974" y="4419600"/>
            <a:ext cx="725176" cy="32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42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9525" y="-30971"/>
            <a:ext cx="8520600" cy="5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6. Deploiment du model LSTM avec Streamlit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</a:rPr>
              <a:t>Contexte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19" y="1001473"/>
            <a:ext cx="7646631" cy="343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8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9525" y="-30971"/>
            <a:ext cx="8520600" cy="5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6. Deploiment du model LSTM avec Streamlit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</a:rPr>
              <a:t>Contexte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80" y="971550"/>
            <a:ext cx="7833048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8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9525" y="-30971"/>
            <a:ext cx="8520600" cy="5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6. Deploiment du model LSTM avec Streamlit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</a:rPr>
              <a:t>Contexte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87" y="929612"/>
            <a:ext cx="4588714" cy="394083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400" y="929612"/>
            <a:ext cx="4169494" cy="394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5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604450" y="20165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Merci de votre attention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384</Words>
  <Application>Microsoft Office PowerPoint</Application>
  <PresentationFormat>Affichage à l'écran (16:9)</PresentationFormat>
  <Paragraphs>64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Roboto</vt:lpstr>
      <vt:lpstr>Times New Roman</vt:lpstr>
      <vt:lpstr>Geometric</vt:lpstr>
      <vt:lpstr>Prédiction des prix boursiers en temps réel </vt:lpstr>
      <vt:lpstr>Plan</vt:lpstr>
      <vt:lpstr>1. Introduction </vt:lpstr>
      <vt:lpstr>2. Donnees et outils utilises</vt:lpstr>
      <vt:lpstr>3. Preparation de donnees  </vt:lpstr>
      <vt:lpstr>4-1. Model RNN </vt:lpstr>
      <vt:lpstr>4-2. Model LSTM </vt:lpstr>
      <vt:lpstr>5. Comparaison entre les 2 models </vt:lpstr>
      <vt:lpstr>6. Deploiment du model LSTM avec Streamlit</vt:lpstr>
      <vt:lpstr>6. Deploiment du model LSTM avec Streamlit</vt:lpstr>
      <vt:lpstr>6. Deploiment du model LSTM avec Streamlit</vt:lpstr>
      <vt:lpstr>Merci de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des prix boursiers en temps réel </dc:title>
  <cp:lastModifiedBy>hp</cp:lastModifiedBy>
  <cp:revision>15</cp:revision>
  <dcterms:modified xsi:type="dcterms:W3CDTF">2024-12-07T00:38:27Z</dcterms:modified>
</cp:coreProperties>
</file>